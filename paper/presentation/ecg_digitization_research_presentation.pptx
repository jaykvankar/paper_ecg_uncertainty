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B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234440"/>
            <a:ext cx="10972800" cy="68580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ECG Paper Digitization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057400"/>
            <a:ext cx="10515600" cy="5486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2300" b="0">
                <a:solidFill>
                  <a:srgbClr val="DBEAFE"/>
                </a:solidFill>
              </a:defRPr>
            </a:pPr>
            <a:r>
              <a:t>How printing and tracing can change probability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349240"/>
            <a:ext cx="10058400" cy="36576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1500" b="0">
                <a:solidFill>
                  <a:srgbClr val="E2E8F0"/>
                </a:solidFill>
              </a:defRPr>
            </a:pPr>
            <a:r>
              <a:t>10-minute research presentation | PTB-XL | synthetic creased pages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2800" b="1">
                <a:solidFill>
                  <a:srgbClr val="123B5D"/>
                </a:solidFill>
              </a:defRPr>
            </a:pPr>
            <a:r>
              <a:t>1. Why this problem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972800" cy="36576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1400" b="0">
                <a:solidFill>
                  <a:srgbClr val="475569"/>
                </a:solidFill>
              </a:defRPr>
            </a:pPr>
            <a:r>
              <a:t>A model can be accurate at ranking cases but wrong about how confident it should be.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2743200" cy="36576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Clean digital ECG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828800"/>
            <a:ext cx="548640" cy="36576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2800" b="1">
                <a:solidFill>
                  <a:srgbClr val="0E7490"/>
                </a:solidFill>
              </a:defRPr>
            </a:pPr>
            <a: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0" y="1828800"/>
            <a:ext cx="2926080" cy="36576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Paper / scan / trace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1828800"/>
            <a:ext cx="548640" cy="36576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2800" b="1">
                <a:solidFill>
                  <a:srgbClr val="0E7490"/>
                </a:solidFill>
              </a:defRPr>
            </a:pPr>
            <a: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828800"/>
            <a:ext cx="3108960" cy="36576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Prediction probabilities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971800"/>
            <a:ext cx="10149840" cy="91440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2300" b="0">
                <a:solidFill>
                  <a:srgbClr val="1E293B"/>
                </a:solidFill>
              </a:defRPr>
            </a:pPr>
            <a:r>
              <a:t>If a model says 90%, roughly 90% of similar cases should be correct. Calibration error measures the gap between reported probability and observed frequency.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2800" b="1">
                <a:solidFill>
                  <a:srgbClr val="123B5D"/>
                </a:solidFill>
              </a:defRPr>
            </a:pPr>
            <a:r>
              <a:t>2. Research question and hypothesis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828800" cy="36576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2200" b="1">
                <a:solidFill>
                  <a:srgbClr val="0E7490"/>
                </a:solidFill>
              </a:defRPr>
            </a:pPr>
            <a: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515600" cy="82296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2600" b="1">
                <a:solidFill>
                  <a:srgbClr val="1E293B"/>
                </a:solidFill>
              </a:defRPr>
            </a:pPr>
            <a:r>
              <a:t>Does tracing a synthetic PTB-XL paper page change classwise calibration, and does the change differ by diagnosis?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46120"/>
            <a:ext cx="1828800" cy="36576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2200" b="1">
                <a:solidFill>
                  <a:srgbClr val="0E7490"/>
                </a:solidFill>
              </a:defRPr>
            </a:pPr>
            <a:r>
              <a:t>Hypothesis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515600" cy="7315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2300" b="0">
                <a:solidFill>
                  <a:srgbClr val="1E293B"/>
                </a:solidFill>
              </a:defRPr>
            </a:pPr>
            <a:r>
              <a:t>The same digitization artifacts may affect probability reliability differently across diagnoses and across voltage representations.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2800" b="1">
                <a:solidFill>
                  <a:srgbClr val="123B5D"/>
                </a:solidFill>
              </a:defRPr>
            </a:pPr>
            <a:r>
              <a:t>3. Data and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5029200" cy="4114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Dataset: PTB-XL 1.0.3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4937760" cy="182880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2000" b="0">
                <a:solidFill>
                  <a:srgbClr val="1E293B"/>
                </a:solidFill>
              </a:defRPr>
            </a:pPr>
            <a:r>
              <a:t>• 12-lead ECGs</a:t>
            </a:r>
            <a:br/>
            <a:r>
              <a:t>• 100 Hz, 10 seconds</a:t>
            </a:r>
            <a:br/>
            <a:r>
              <a:t>• 5 diagnostic superclasses</a:t>
            </a:r>
            <a:br/>
            <a:r>
              <a:t>• 17,084 train | 2,146 validation | 2,158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25880"/>
            <a:ext cx="2743200" cy="4114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Classifier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754880" cy="16459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2000" b="0">
                <a:solidFill>
                  <a:srgbClr val="1E293B"/>
                </a:solidFill>
              </a:defRPr>
            </a:pPr>
            <a:r>
              <a:t>Compact 1D residual network</a:t>
            </a:r>
            <a:br/>
            <a:r>
              <a:t>BCE + AdamW</a:t>
            </a:r>
            <a:br/>
            <a:r>
              <a:t>Seed 42</a:t>
            </a:r>
            <a:br/>
            <a:r>
              <a:t>Checkpoint selected on fold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2800" b="1">
                <a:solidFill>
                  <a:srgbClr val="123B5D"/>
                </a:solidFill>
              </a:defRPr>
            </a:pPr>
            <a:r>
              <a:t>4. The controlled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34440"/>
            <a:ext cx="10058400" cy="4114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2200" b="1">
                <a:solidFill>
                  <a:srgbClr val="0E7490"/>
                </a:solidFill>
              </a:defRPr>
            </a:pPr>
            <a:r>
              <a:t>Same data • same seed • same architecture • same split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3840480" cy="137160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Arm A</a:t>
            </a:r>
            <a:br/>
            <a:r>
              <a:t>Per-lead standardized</a:t>
            </a:r>
            <a:br/>
            <a:r>
              <a:t>Removes absolute voltage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23560" y="2606040"/>
            <a:ext cx="1097280" cy="45720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2600" b="1">
                <a:solidFill>
                  <a:srgbClr val="DC2626"/>
                </a:solidFill>
              </a:defRPr>
            </a:pPr>
            <a:r>
              <a:t>VS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2286000"/>
            <a:ext cx="3840480" cy="137160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Arm B</a:t>
            </a:r>
            <a:br/>
            <a:r>
              <a:t>Raw millivolts</a:t>
            </a:r>
            <a:br/>
            <a:r>
              <a:t>Keeps absolute voltage 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00600"/>
            <a:ext cx="10058400" cy="45720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2200" b="0">
                <a:solidFill>
                  <a:srgbClr val="1E293B"/>
                </a:solidFill>
              </a:defRPr>
            </a:pPr>
            <a:r>
              <a:t>Primary question: does the representation change vulnerability to tracing?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2800" b="1">
                <a:solidFill>
                  <a:srgbClr val="123B5D"/>
                </a:solidFill>
              </a:defRPr>
            </a:pPr>
            <a:r>
              <a:t>5. Paper-to-digital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71600"/>
            <a:ext cx="2194560" cy="36576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Clean waveform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1371600"/>
            <a:ext cx="457200" cy="36576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2800" b="1">
                <a:solidFill>
                  <a:srgbClr val="0E7490"/>
                </a:solidFill>
              </a:defRPr>
            </a:pPr>
            <a:r>
              <a:t>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37560" y="1234440"/>
            <a:ext cx="2651760" cy="7315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Synthetic paper page</a:t>
            </a:r>
            <a:br/>
            <a:r>
              <a:t>wrinkles + creases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1371600"/>
            <a:ext cx="457200" cy="36576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2800" b="1">
                <a:solidFill>
                  <a:srgbClr val="0E7490"/>
                </a:solidFill>
              </a:defRPr>
            </a:pPr>
            <a: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234440"/>
            <a:ext cx="2468880" cy="7315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Trace recovery</a:t>
            </a:r>
            <a:br/>
            <a:r>
              <a:t>column max-finder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2600" y="1371600"/>
            <a:ext cx="457200" cy="36576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2800" b="1">
                <a:solidFill>
                  <a:srgbClr val="0E7490"/>
                </a:solidFill>
              </a:defRPr>
            </a:pPr>
            <a: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1371600"/>
            <a:ext cx="1920240" cy="36576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Paired evaluation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94760"/>
            <a:ext cx="10332720" cy="6400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2300" b="0">
                <a:solidFill>
                  <a:srgbClr val="1E293B"/>
                </a:solidFill>
              </a:defRPr>
            </a:pPr>
            <a:r>
              <a:t>The same test record is scored twice: clean versus traced. Average trace SNR: 9.06 dB.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2800" b="1">
                <a:solidFill>
                  <a:srgbClr val="123B5D"/>
                </a:solidFill>
              </a:defRPr>
            </a:pPr>
            <a:r>
              <a:t>6. Main result: calibration changes by class</a:t>
            </a:r>
          </a:p>
        </p:txBody>
      </p:sp>
      <p:pic>
        <p:nvPicPr>
          <p:cNvPr id="3" name="Picture 2" descr="ece_by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43000"/>
            <a:ext cx="10972800" cy="5730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080760"/>
            <a:ext cx="10058400" cy="2743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1400" b="0">
                <a:solidFill>
                  <a:srgbClr val="475569"/>
                </a:solidFill>
              </a:defRPr>
            </a:pPr>
            <a:r>
              <a:t>Positive = worse probability calibration after tracing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2800" b="1">
                <a:solidFill>
                  <a:srgbClr val="123B5D"/>
                </a:solidFill>
              </a:defRPr>
            </a:pPr>
            <a:r>
              <a:t>7. Main finding: raw millivolts are more vulnerable</a:t>
            </a:r>
          </a:p>
        </p:txBody>
      </p:sp>
      <p:pic>
        <p:nvPicPr>
          <p:cNvPr id="3" name="Picture 2" descr="contr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43000"/>
            <a:ext cx="10972800" cy="5730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" y="6053328"/>
            <a:ext cx="1051560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1700" b="1">
                <a:solidFill>
                  <a:srgbClr val="991B1B"/>
                </a:solidFill>
              </a:defRPr>
            </a:pPr>
            <a:r>
              <a:t>Conduction disturbance contrast: +0.161 (patient-bootstrap interval ≈ 0.136–0.171)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2800" b="1">
                <a:solidFill>
                  <a:srgbClr val="123B5D"/>
                </a:solidFill>
              </a:defRPr>
            </a:pPr>
            <a:r>
              <a:t>8. What does this mean?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4572000" cy="4114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For conduction disturbance: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5486400" cy="16459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2500" b="0">
                <a:solidFill>
                  <a:srgbClr val="1E293B"/>
                </a:solidFill>
              </a:defRPr>
            </a:pPr>
            <a:r>
              <a:t>Raw-mV model:      +0.142 ΔECE</a:t>
            </a:r>
            <a:br/>
            <a:r>
              <a:t>Standardized model: −0.019 ΔECE</a:t>
            </a:r>
            <a:br/>
            <a:r>
              <a:t>Difference:          +0.161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828800"/>
            <a:ext cx="4572000" cy="182880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2100" b="0">
                <a:solidFill>
                  <a:srgbClr val="1E293B"/>
                </a:solidFill>
              </a:defRPr>
            </a:pPr>
            <a:r>
              <a:t>This is not just a reconstruction-quality story. CD records had similar SNR to non-CD records, and oracle amplitude matching removed only part of the shift.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2800" b="1">
                <a:solidFill>
                  <a:srgbClr val="123B5D"/>
                </a:solidFill>
              </a:defRPr>
            </a:pPr>
            <a:r>
              <a:t>9. Did we improve the probability error?</a:t>
            </a:r>
          </a:p>
        </p:txBody>
      </p:sp>
      <p:pic>
        <p:nvPicPr>
          <p:cNvPr id="3" name="Picture 2" descr="corr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43000"/>
            <a:ext cx="10972800" cy="5730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053328"/>
            <a:ext cx="1078992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1700" b="1">
                <a:solidFill>
                  <a:srgbClr val="056446"/>
                </a:solidFill>
              </a:defRPr>
            </a:pPr>
            <a:r>
              <a:t>A validation-fitted recalibration map reduces the shift near zero without retraining the classifier.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2800" b="1">
                <a:solidFill>
                  <a:srgbClr val="123B5D"/>
                </a:solidFill>
              </a:defRPr>
            </a:pPr>
            <a:r>
              <a:t>10. Novelty, contribution, and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2286000" cy="36576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2200" b="1">
                <a:solidFill>
                  <a:srgbClr val="0E7490"/>
                </a:solidFill>
              </a:defRPr>
            </a:pPr>
            <a:r>
              <a:t>Contribution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5486400" cy="219456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2000" b="0">
                <a:solidFill>
                  <a:srgbClr val="1E293B"/>
                </a:solidFill>
              </a:defRPr>
            </a:pPr>
            <a:r>
              <a:t>• Paired classwise calibration study after ECG paper digitization</a:t>
            </a:r>
            <a:br/>
            <a:r>
              <a:t>• Shows dependence on voltage representation</a:t>
            </a:r>
            <a:br/>
            <a:r>
              <a:t>• Separates calibration from AUROC and reconstruction quality</a:t>
            </a:r>
            <a:br/>
            <a:r>
              <a:t>• Demonstrates a practical recalibration fix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188720"/>
            <a:ext cx="2286000" cy="36576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2200" b="1">
                <a:solidFill>
                  <a:srgbClr val="0E7490"/>
                </a:solidFill>
              </a:defRPr>
            </a:pPr>
            <a:r>
              <a:t>Limits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20840" y="1691640"/>
            <a:ext cx="4663440" cy="20116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2000" b="0">
                <a:solidFill>
                  <a:srgbClr val="1E293B"/>
                </a:solidFill>
              </a:defRPr>
            </a:pPr>
            <a:r>
              <a:t>• Synthetic creased pages only</a:t>
            </a:r>
            <a:br/>
            <a:r>
              <a:t>• One primary seed and architecture</a:t>
            </a:r>
            <a:br/>
            <a:r>
              <a:t>• Real color scans not yet scored</a:t>
            </a:r>
            <a:br/>
            <a:r>
              <a:t>• Not a clinical deployment claim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241280" cy="59436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2500" b="1">
                <a:solidFill>
                  <a:srgbClr val="123B5D"/>
                </a:solidFill>
              </a:defRPr>
            </a:pPr>
            <a:r>
              <a:t>Take-home: paper digitization can preserve useful ranking while quietly damaging probability reliability.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